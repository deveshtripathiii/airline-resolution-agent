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8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307" autoAdjust="0"/>
    <p:restoredTop sz="94660"/>
  </p:normalViewPr>
  <p:slideViewPr>
    <p:cSldViewPr snapToGrid="0" snapToObjects="1">
      <p:cViewPr varScale="1">
        <p:scale>
          <a:sx n="87" d="100"/>
          <a:sy n="87" d="100"/>
        </p:scale>
        <p:origin x="-642" y="-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28800" y="1859280"/>
            <a:ext cx="8534400" cy="12954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pic>
        <p:nvPicPr>
          <p:cNvPr id="8" name="Picture 7" descr="flourish2.png"/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lum bright="-14000"/>
          </a:blip>
          <a:stretch>
            <a:fillRect/>
          </a:stretch>
        </p:blipFill>
        <p:spPr>
          <a:xfrm>
            <a:off x="0" y="2801112"/>
            <a:ext cx="12192000" cy="932688"/>
          </a:xfrm>
          <a:prstGeom prst="rect">
            <a:avLst/>
          </a:prstGeom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429000"/>
            <a:ext cx="8534400" cy="762000"/>
          </a:xfrm>
        </p:spPr>
        <p:txBody>
          <a:bodyPr>
            <a:normAutofit/>
          </a:bodyPr>
          <a:lstStyle>
            <a:lvl1pPr marL="0" indent="0" algn="ctr">
              <a:buNone/>
              <a:defRPr sz="2000" i="1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white"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white"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28800" y="2438401"/>
            <a:ext cx="8534400" cy="3048001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Picture 8" descr="flourish2.png"/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lum bright="-14000"/>
          </a:blip>
          <a:stretch>
            <a:fillRect/>
          </a:stretch>
        </p:blipFill>
        <p:spPr>
          <a:xfrm>
            <a:off x="0" y="1618488"/>
            <a:ext cx="12192000" cy="93268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flourish2.png"/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lum bright="-14000"/>
          </a:blip>
          <a:stretch>
            <a:fillRect/>
          </a:stretch>
        </p:blipFill>
        <p:spPr>
          <a:xfrm>
            <a:off x="0" y="2684462"/>
            <a:ext cx="12192000" cy="93268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30400" y="3410268"/>
            <a:ext cx="8331200" cy="1456373"/>
          </a:xfrm>
        </p:spPr>
        <p:txBody>
          <a:bodyPr anchor="t">
            <a:normAutofit/>
          </a:bodyPr>
          <a:lstStyle>
            <a:lvl1pPr algn="ctr">
              <a:defRPr sz="3600" b="0" i="0" cap="all" baseline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30400" y="1503680"/>
            <a:ext cx="8331200" cy="1566862"/>
          </a:xfrm>
        </p:spPr>
        <p:txBody>
          <a:bodyPr anchor="b"/>
          <a:lstStyle>
            <a:lvl1pPr marL="0" indent="0" algn="ctr">
              <a:buNone/>
              <a:defRPr sz="2000" b="0" i="1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pic>
        <p:nvPicPr>
          <p:cNvPr id="8" name="Picture 7" descr="flourish2.png"/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lum bright="-14000"/>
          </a:blip>
          <a:stretch>
            <a:fillRect/>
          </a:stretch>
        </p:blipFill>
        <p:spPr>
          <a:xfrm>
            <a:off x="0" y="2684462"/>
            <a:ext cx="12192000" cy="93268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9"/>
          <p:cNvSpPr>
            <a:spLocks noGrp="1"/>
          </p:cNvSpPr>
          <p:nvPr>
            <p:ph sz="quarter" idx="13"/>
          </p:nvPr>
        </p:nvSpPr>
        <p:spPr>
          <a:xfrm>
            <a:off x="1828800" y="2438400"/>
            <a:ext cx="4165600" cy="312420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4"/>
          </p:nvPr>
        </p:nvSpPr>
        <p:spPr>
          <a:xfrm>
            <a:off x="6197600" y="2438400"/>
            <a:ext cx="4165600" cy="312420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pic>
        <p:nvPicPr>
          <p:cNvPr id="9" name="Picture 8" descr="flourish2.png"/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lum bright="-14000"/>
          </a:blip>
          <a:stretch>
            <a:fillRect/>
          </a:stretch>
        </p:blipFill>
        <p:spPr>
          <a:xfrm>
            <a:off x="0" y="1618488"/>
            <a:ext cx="12192000" cy="93268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flourish2.png"/>
          <p:cNvPicPr>
            <a:picLocks noChangeAspect="1"/>
          </p:cNvPicPr>
          <p:nvPr/>
        </p:nvPicPr>
        <p:blipFill>
          <a:blip r:embed="rId2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lum bright="-14000"/>
          </a:blip>
          <a:stretch>
            <a:fillRect/>
          </a:stretch>
        </p:blipFill>
        <p:spPr>
          <a:xfrm>
            <a:off x="0" y="1618488"/>
            <a:ext cx="12192000" cy="932688"/>
          </a:xfrm>
          <a:prstGeom prst="rect">
            <a:avLst/>
          </a:prstGeom>
        </p:spPr>
      </p:pic>
      <p:sp>
        <p:nvSpPr>
          <p:cNvPr id="11" name="Content Placeholder 10"/>
          <p:cNvSpPr>
            <a:spLocks noGrp="1"/>
          </p:cNvSpPr>
          <p:nvPr>
            <p:ph sz="quarter" idx="13"/>
          </p:nvPr>
        </p:nvSpPr>
        <p:spPr>
          <a:xfrm>
            <a:off x="1828800" y="2819400"/>
            <a:ext cx="4165600" cy="274320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14"/>
          </p:nvPr>
        </p:nvSpPr>
        <p:spPr>
          <a:xfrm>
            <a:off x="6197600" y="2819400"/>
            <a:ext cx="4165600" cy="274320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828800" y="2362201"/>
            <a:ext cx="4167717" cy="451338"/>
          </a:xfrm>
        </p:spPr>
        <p:txBody>
          <a:bodyPr anchor="b"/>
          <a:lstStyle>
            <a:lvl1pPr marL="0" indent="0" algn="ctr">
              <a:buNone/>
              <a:defRPr sz="1800" b="1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2359152"/>
            <a:ext cx="4169833" cy="448056"/>
          </a:xfrm>
        </p:spPr>
        <p:txBody>
          <a:bodyPr anchor="b"/>
          <a:lstStyle>
            <a:lvl1pPr marL="0" indent="0" algn="ctr">
              <a:buNone/>
              <a:defRPr sz="1800" b="1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flourish2.png"/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lum bright="-14000"/>
          </a:blip>
          <a:stretch>
            <a:fillRect/>
          </a:stretch>
        </p:blipFill>
        <p:spPr>
          <a:xfrm>
            <a:off x="0" y="1618488"/>
            <a:ext cx="12192000" cy="93268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04002" y="1676400"/>
            <a:ext cx="3759199" cy="599440"/>
          </a:xfrm>
        </p:spPr>
        <p:txBody>
          <a:bodyPr anchor="b">
            <a:noAutofit/>
          </a:bodyPr>
          <a:lstStyle>
            <a:lvl1pPr algn="ctr">
              <a:defRPr sz="1700" b="1" cap="all" spc="0" baseline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04002" y="2275840"/>
            <a:ext cx="3759199" cy="2905760"/>
          </a:xfrm>
        </p:spPr>
        <p:txBody>
          <a:bodyPr/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1828800" y="1676400"/>
            <a:ext cx="4368800" cy="350520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que 9"/>
          <p:cNvSpPr/>
          <p:nvPr/>
        </p:nvSpPr>
        <p:spPr>
          <a:xfrm>
            <a:off x="1950720" y="1847088"/>
            <a:ext cx="4120896" cy="3090672"/>
          </a:xfrm>
          <a:prstGeom prst="plaque">
            <a:avLst>
              <a:gd name="adj" fmla="val 8438"/>
            </a:avLst>
          </a:prstGeom>
          <a:noFill/>
          <a:ln w="9525">
            <a:solidFill>
              <a:schemeClr val="tx2">
                <a:alpha val="17000"/>
              </a:schemeClr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04000" y="1676400"/>
            <a:ext cx="3759200" cy="599440"/>
          </a:xfrm>
        </p:spPr>
        <p:txBody>
          <a:bodyPr anchor="b">
            <a:noAutofit/>
          </a:bodyPr>
          <a:lstStyle>
            <a:lvl1pPr algn="ctr">
              <a:defRPr sz="1700" b="1" cap="all" spc="0" baseline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032000" y="1905000"/>
            <a:ext cx="3962400" cy="2971800"/>
          </a:xfrm>
          <a:prstGeom prst="plaque">
            <a:avLst>
              <a:gd name="adj" fmla="val 8341"/>
            </a:avLst>
          </a:prstGeom>
          <a:solidFill>
            <a:schemeClr val="bg1">
              <a:lumMod val="95000"/>
              <a:alpha val="35000"/>
            </a:schemeClr>
          </a:solidFill>
          <a:ln w="98425" cmpd="thinThick">
            <a:noFill/>
            <a:bevel/>
          </a:ln>
        </p:spPr>
        <p:txBody>
          <a:bodyPr>
            <a:normAutofit/>
          </a:bodyPr>
          <a:lstStyle>
            <a:lvl1pPr marL="0" indent="0" algn="ctr">
              <a:buNone/>
              <a:defRPr sz="1800" baseline="0">
                <a:solidFill>
                  <a:schemeClr val="tx2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04000" y="2276856"/>
            <a:ext cx="3759200" cy="2875280"/>
          </a:xfrm>
        </p:spPr>
        <p:txBody>
          <a:bodyPr/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1209041"/>
            <a:ext cx="1727200" cy="4318000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727200" y="1219200"/>
            <a:ext cx="6908800" cy="4267201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window3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828800" y="1295400"/>
            <a:ext cx="8534400" cy="68580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828800" y="2057401"/>
            <a:ext cx="8534400" cy="34290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 bwMode="white">
          <a:xfrm>
            <a:off x="406400" y="6356351"/>
            <a:ext cx="2844800" cy="36512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/>
          <a:lstStyle>
            <a:lvl1pPr algn="l">
              <a:defRPr sz="1100" baseline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 bwMode="white">
          <a:xfrm>
            <a:off x="3962400" y="6356351"/>
            <a:ext cx="4267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00" baseline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white">
          <a:xfrm>
            <a:off x="8900160" y="6364225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 baseline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81" r:id="rId1"/>
    <p:sldLayoutId id="2147483782" r:id="rId2"/>
    <p:sldLayoutId id="2147483783" r:id="rId3"/>
    <p:sldLayoutId id="2147483784" r:id="rId4"/>
    <p:sldLayoutId id="2147483785" r:id="rId5"/>
    <p:sldLayoutId id="2147483786" r:id="rId6"/>
    <p:sldLayoutId id="2147483787" r:id="rId7"/>
    <p:sldLayoutId id="2147483788" r:id="rId8"/>
    <p:sldLayoutId id="2147483789" r:id="rId9"/>
    <p:sldLayoutId id="2147483790" r:id="rId10"/>
    <p:sldLayoutId id="2147483791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3600" kern="1200" cap="all" spc="300" baseline="0">
          <a:solidFill>
            <a:schemeClr val="tx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0" indent="-274320" algn="l" defTabSz="914400" rtl="0" eaLnBrk="1" latinLnBrk="0" hangingPunct="1">
        <a:lnSpc>
          <a:spcPct val="150000"/>
        </a:lnSpc>
        <a:spcBef>
          <a:spcPct val="20000"/>
        </a:spcBef>
        <a:buClrTx/>
        <a:buFont typeface="Wingdings" pitchFamily="2" charset="2"/>
        <a:buChar char="v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28600" algn="l" defTabSz="914400" rtl="0" eaLnBrk="1" latinLnBrk="0" hangingPunct="1">
        <a:spcBef>
          <a:spcPct val="20000"/>
        </a:spcBef>
        <a:buClrTx/>
        <a:buFont typeface="Arial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ClrTx/>
        <a:buFont typeface="Arial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ClrTx/>
        <a:buFont typeface="Arial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ClrTx/>
        <a:buFont typeface="Arial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ClrTx/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ClrTx/>
        <a:buFont typeface="Arial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ClrTx/>
        <a:buFont typeface="Arial" pitchFamily="34" charset="0"/>
        <a:buChar char="•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ClrTx/>
        <a:buFont typeface="Arial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0" y="731520"/>
            <a:ext cx="6583680" cy="41148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✈️ DATA PACK - ASSIGNMENT 3: CUSTOMER-FACING RESOLUTION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2" y="1234441"/>
            <a:ext cx="10362895" cy="11541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Autonomous Airline Disruption Agent</a:t>
            </a:r>
          </a:p>
          <a:p>
            <a:pPr>
              <a:defRPr sz="2000" b="1">
                <a:solidFill>
                  <a:srgbClr val="0284C7"/>
                </a:solidFill>
              </a:defRPr>
            </a:pPr>
            <a:r>
              <a:t>SkyWay Airlines Resolution System with Deterministic Policy Guardrails</a:t>
            </a:r>
          </a:p>
          <a:p>
            <a:pPr>
              <a:defRPr sz="1300">
                <a:solidFill>
                  <a:srgbClr val="E0F2FE"/>
                </a:solidFill>
              </a:defRPr>
            </a:pPr>
            <a:r>
              <a:t>Context Exercise Date: Wednesday, 23 September 2026 | Zero External Data Assumptions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474720"/>
            <a:ext cx="3291840" cy="20116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400" b="1">
                <a:solidFill>
                  <a:srgbClr val="38BDF8"/>
                </a:solidFill>
              </a:defRPr>
            </a:pPr>
            <a:r>
              <a:t>🛡️ Zero-Hallucination Engine</a:t>
            </a:r>
          </a:p>
          <a:p>
            <a:r>
              <a:t/>
            </a:r>
            <a:br/>
            <a:r>
              <a:t>Deterministic Python rules engine executing 100% grounded policy decisions, delay vouchers, &amp; ₹1,500 supervisor waiver limits.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43983" y="3474720"/>
            <a:ext cx="3291840" cy="20116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400" b="1">
                <a:solidFill>
                  <a:srgbClr val="38BDF8"/>
                </a:solidFill>
              </a:defRPr>
            </a:pPr>
            <a:r>
              <a:t>👥 3 Grounded Scenarios</a:t>
            </a:r>
          </a:p>
          <a:p>
            <a:r>
              <a:t/>
            </a:r>
            <a:br/>
            <a:r>
              <a:t>End-to-end resolution for Priya Nair (Gold), Arvind Kulkarni (Silver), &amp; Meher Kaur (Platinum) with escalation handling.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73567" y="3474720"/>
            <a:ext cx="3291840" cy="20116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400" b="1">
                <a:solidFill>
                  <a:srgbClr val="38BDF8"/>
                </a:solidFill>
              </a:defRPr>
            </a:pPr>
            <a:r>
              <a:t>🌐 Production UI &amp; Artefacts</a:t>
            </a:r>
          </a:p>
          <a:p>
            <a:r>
              <a:t/>
            </a:r>
            <a:br/>
            <a:r>
              <a:t>Multi-Language (English &lt;-&gt; हिन्दी), Instant 1-tap Passenger Switcher, and Official Downloadable PDF Claim Receipts.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2" y="5715000"/>
            <a:ext cx="10362895" cy="594360"/>
          </a:xfrm>
          <a:prstGeom prst="rect">
            <a:avLst/>
          </a:prstGeom>
          <a:solidFill>
            <a:srgbClr val="0A0F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E0F2FE"/>
                </a:solidFill>
              </a:defRPr>
            </a:pPr>
            <a:r>
              <a:t>Presenter: Devesh Tripathi  |  AIONOS Agentic AI Factory Assignment 3 Defence  |  Test Suite: 55/55 Passing (100%)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2" y="457200"/>
            <a:ext cx="10728655" cy="1005840"/>
          </a:xfrm>
          <a:prstGeom prst="rect">
            <a:avLst/>
          </a:prstGeom>
          <a:solidFill>
            <a:srgbClr val="0F172A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37160" rtlCol="0" anchor="ctr"/>
          <a:lstStyle/>
          <a:p>
            <a:pPr algn="ctr">
              <a:defRPr sz="1000" b="1">
                <a:solidFill>
                  <a:srgbClr val="0284C7"/>
                </a:solidFill>
              </a:defRPr>
            </a:pPr>
            <a:r>
              <a:t>AIONOS ASSIGNMENT 3 - AIRLINE DISRUPTION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1. Business Problem &amp; Mission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28057" y="2046514"/>
            <a:ext cx="1013212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defRPr sz="1400">
                <a:solidFill>
                  <a:srgbClr val="0F172A"/>
                </a:solidFill>
              </a:defRPr>
            </a:pPr>
            <a:r>
              <a:rPr dirty="0"/>
              <a:t>The Challenge: Airline disruptions (cancellations and multi-hour delays) cause immense customer frustration, leading to angry passengers demanding arbitrary upgrades, refunds, or threatening legal action.</a:t>
            </a:r>
          </a:p>
          <a:p>
            <a:pPr>
              <a:defRPr sz="1400">
                <a:solidFill>
                  <a:srgbClr val="0F172A"/>
                </a:solidFill>
              </a:defRPr>
            </a:pPr>
            <a:r>
              <a:rPr dirty="0"/>
              <a:t>The Business Risk: Pure LLM bots suffer from hallucination, authorizing unauthorized compensation or exceeding financial authority thresholds (e.g. fare difference waivers).</a:t>
            </a:r>
          </a:p>
          <a:p>
            <a:pPr>
              <a:defRPr sz="1400">
                <a:solidFill>
                  <a:srgbClr val="0F172A"/>
                </a:solidFill>
              </a:defRPr>
            </a:pPr>
            <a:r>
              <a:rPr dirty="0"/>
              <a:t>The Objective: Build an autonomous customer-facing resolution agent that:</a:t>
            </a:r>
          </a:p>
          <a:p>
            <a:pPr>
              <a:defRPr sz="1400">
                <a:solidFill>
                  <a:srgbClr val="334155"/>
                </a:solidFill>
              </a:defRPr>
            </a:pPr>
            <a:r>
              <a:rPr dirty="0"/>
              <a:t>  - Understands Intent &amp; Sentiment: Detects customer emotional state and exact request.</a:t>
            </a:r>
          </a:p>
          <a:p>
            <a:pPr>
              <a:defRPr sz="1400">
                <a:solidFill>
                  <a:srgbClr val="334155"/>
                </a:solidFill>
              </a:defRPr>
            </a:pPr>
            <a:r>
              <a:rPr dirty="0"/>
              <a:t>  - Strictly Enforces Grounded Policy: Determines entitlements deterministically from data pack rules.</a:t>
            </a:r>
          </a:p>
          <a:p>
            <a:pPr>
              <a:defRPr sz="1400">
                <a:solidFill>
                  <a:srgbClr val="334155"/>
                </a:solidFill>
              </a:defRPr>
            </a:pPr>
            <a:r>
              <a:rPr dirty="0"/>
              <a:t>  - Protects Airline Authority: Escalates cases exceeding front-line limits (e.g., fare diff &gt; </a:t>
            </a:r>
            <a:r>
              <a:rPr dirty="0" err="1"/>
              <a:t>Rs</a:t>
            </a:r>
            <a:r>
              <a:rPr dirty="0"/>
              <a:t> 1,500, legal threats) to human supervisors.</a:t>
            </a:r>
          </a:p>
          <a:p>
            <a:pPr>
              <a:defRPr sz="1400">
                <a:solidFill>
                  <a:srgbClr val="334155"/>
                </a:solidFill>
              </a:defRPr>
            </a:pPr>
            <a:r>
              <a:rPr dirty="0"/>
              <a:t>  - Maintains Full Audit Trail: Preserves append-only immutable records of every turn and decision.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2" y="457200"/>
            <a:ext cx="10728655" cy="1005840"/>
          </a:xfrm>
          <a:prstGeom prst="rect">
            <a:avLst/>
          </a:prstGeom>
          <a:solidFill>
            <a:srgbClr val="0F172A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37160" rtlCol="0" anchor="ctr"/>
          <a:lstStyle/>
          <a:p>
            <a:pPr algn="ctr">
              <a:defRPr sz="1000" b="1">
                <a:solidFill>
                  <a:srgbClr val="0284C7"/>
                </a:solidFill>
              </a:defRPr>
            </a:pPr>
            <a:r>
              <a:t>AIONOS ASSIGNMENT 3 - AIRLINE DISRUPTION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2. Architectural Pipeline &amp; Component Separation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62743" y="1992086"/>
            <a:ext cx="9557657" cy="27699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defRPr sz="1300">
                <a:solidFill>
                  <a:srgbClr val="0F172A"/>
                </a:solidFill>
              </a:defRPr>
            </a:pPr>
            <a:r>
              <a:rPr dirty="0"/>
              <a:t>1. Input &amp; Ingestion Layer: Captures multi-turn passenger queries through </a:t>
            </a:r>
            <a:r>
              <a:rPr dirty="0" err="1"/>
              <a:t>Streamlit</a:t>
            </a:r>
            <a:r>
              <a:rPr dirty="0"/>
              <a:t> UI with 1-tap passenger switcher and multi-language support (English / Hindi).</a:t>
            </a:r>
          </a:p>
          <a:p>
            <a:pPr>
              <a:defRPr sz="1300">
                <a:solidFill>
                  <a:srgbClr val="0F172A"/>
                </a:solidFill>
              </a:defRPr>
            </a:pPr>
            <a:r>
              <a:rPr dirty="0"/>
              <a:t>2. Intent &amp; Sentiment Parser: Extracts primary intent (refund, rebook, hotel, voucher, legal threat) and emotional sentiment (furious, frustrated, polite).</a:t>
            </a:r>
          </a:p>
          <a:p>
            <a:pPr>
              <a:defRPr sz="1300">
                <a:solidFill>
                  <a:srgbClr val="0F172A"/>
                </a:solidFill>
              </a:defRPr>
            </a:pPr>
            <a:r>
              <a:rPr dirty="0"/>
              <a:t>3. Grounded Data Repository: Provides read-only access to customer profiles (</a:t>
            </a:r>
            <a:r>
              <a:rPr dirty="0" err="1"/>
              <a:t>Priya</a:t>
            </a:r>
            <a:r>
              <a:rPr dirty="0"/>
              <a:t>, </a:t>
            </a:r>
            <a:r>
              <a:rPr dirty="0" err="1"/>
              <a:t>Arvind</a:t>
            </a:r>
            <a:r>
              <a:rPr dirty="0"/>
              <a:t>, </a:t>
            </a:r>
            <a:r>
              <a:rPr dirty="0" err="1"/>
              <a:t>Meher</a:t>
            </a:r>
            <a:r>
              <a:rPr dirty="0"/>
              <a:t>), flight statuses, and policy data packs with zero external assumptions.</a:t>
            </a:r>
          </a:p>
          <a:p>
            <a:pPr>
              <a:defRPr sz="1300">
                <a:solidFill>
                  <a:srgbClr val="0F172A"/>
                </a:solidFill>
              </a:defRPr>
            </a:pPr>
            <a:r>
              <a:rPr dirty="0"/>
              <a:t>4. Deterministic Rules Engine: Pure Python logic that enforces cancellation rights, delay tiers (&lt;3h, 3-5h, &gt;5h), hotel eligibility, and </a:t>
            </a:r>
            <a:r>
              <a:rPr dirty="0" err="1"/>
              <a:t>Rs</a:t>
            </a:r>
            <a:r>
              <a:rPr dirty="0"/>
              <a:t> 1,500 fare waiver limits.</a:t>
            </a:r>
          </a:p>
          <a:p>
            <a:pPr>
              <a:defRPr sz="1300">
                <a:solidFill>
                  <a:srgbClr val="0F172A"/>
                </a:solidFill>
              </a:defRPr>
            </a:pPr>
            <a:r>
              <a:rPr dirty="0"/>
              <a:t>5. Controlled NLG &amp; LLM Client: Natural language generation using Google Gemini with offline deterministic fallback for bulletproof offline evaluation.</a:t>
            </a:r>
          </a:p>
          <a:p>
            <a:pPr>
              <a:defRPr sz="1300">
                <a:solidFill>
                  <a:srgbClr val="0F172A"/>
                </a:solidFill>
              </a:defRPr>
            </a:pPr>
            <a:r>
              <a:rPr dirty="0"/>
              <a:t>6. Audit &amp; </a:t>
            </a:r>
            <a:r>
              <a:rPr dirty="0" err="1"/>
              <a:t>Observability</a:t>
            </a:r>
            <a:r>
              <a:rPr dirty="0"/>
              <a:t> Logger: Append-only JSONL event store capturing every turn, policy decisions, supervisor escalations, and compensation logs.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2" y="457200"/>
            <a:ext cx="10728655" cy="1005840"/>
          </a:xfrm>
          <a:prstGeom prst="rect">
            <a:avLst/>
          </a:prstGeom>
          <a:solidFill>
            <a:srgbClr val="0F172A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37160" rtlCol="0" anchor="ctr"/>
          <a:lstStyle/>
          <a:p>
            <a:pPr algn="ctr">
              <a:defRPr sz="1000" b="1">
                <a:solidFill>
                  <a:srgbClr val="0284C7"/>
                </a:solidFill>
              </a:defRPr>
            </a:pPr>
            <a:r>
              <a:t>AIONOS ASSIGNMENT 3 - AIRLINE DISRUPTION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3. Service Policy Rules &amp; Guardrails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93371" y="2286000"/>
            <a:ext cx="9296400" cy="2446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defRPr sz="1350">
                <a:solidFill>
                  <a:srgbClr val="0F172A"/>
                </a:solidFill>
              </a:defRPr>
            </a:pPr>
            <a:r>
              <a:rPr dirty="0"/>
              <a:t>Cancellation Rebooking Rule: Airline-caused cancellation entitles customer to choice of Free Rebooking within 24h OR Full Refund (7 business days to original payment method).</a:t>
            </a:r>
          </a:p>
          <a:p>
            <a:pPr>
              <a:defRPr sz="1350">
                <a:solidFill>
                  <a:srgbClr val="0F172A"/>
                </a:solidFill>
              </a:defRPr>
            </a:pPr>
            <a:r>
              <a:rPr dirty="0"/>
              <a:t>Delay Care Tiers: &lt; 3h: </a:t>
            </a:r>
            <a:r>
              <a:rPr dirty="0" err="1"/>
              <a:t>Rs</a:t>
            </a:r>
            <a:r>
              <a:rPr dirty="0"/>
              <a:t> 500 Meal Voucher | 3-5h: Meal Voucher + Lounge Access | &gt; 5h: Meal + Lounge + Hotel (delayed-hours duration only, NOT full night).</a:t>
            </a:r>
          </a:p>
          <a:p>
            <a:pPr>
              <a:defRPr sz="1350">
                <a:solidFill>
                  <a:srgbClr val="0F172A"/>
                </a:solidFill>
              </a:defRPr>
            </a:pPr>
            <a:r>
              <a:rPr dirty="0"/>
              <a:t>Fare Difference Waiver Cap: Front-line agent can waive up to </a:t>
            </a:r>
            <a:r>
              <a:rPr dirty="0" err="1"/>
              <a:t>Rs</a:t>
            </a:r>
            <a:r>
              <a:rPr dirty="0"/>
              <a:t> 1,500. Any fare difference &gt; </a:t>
            </a:r>
            <a:r>
              <a:rPr dirty="0" err="1"/>
              <a:t>Rs</a:t>
            </a:r>
            <a:r>
              <a:rPr dirty="0"/>
              <a:t> 1,500 requires mandatory Duty Supervisor escalation.</a:t>
            </a:r>
          </a:p>
          <a:p>
            <a:pPr>
              <a:defRPr sz="1350">
                <a:solidFill>
                  <a:srgbClr val="0F172A"/>
                </a:solidFill>
              </a:defRPr>
            </a:pPr>
            <a:r>
              <a:rPr dirty="0"/>
              <a:t>Loyalty Tier Privileges: Gold &amp; Platinum members receive first-priority rebooking on replacement flights, but zero unauthorized cash compensation or cabin upgrades.</a:t>
            </a:r>
          </a:p>
          <a:p>
            <a:pPr>
              <a:defRPr sz="1350">
                <a:solidFill>
                  <a:srgbClr val="0F172A"/>
                </a:solidFill>
              </a:defRPr>
            </a:pPr>
            <a:r>
              <a:rPr dirty="0"/>
              <a:t>Prohibited Actions (Hard Guardrails): No complimentary business class upgrades; no cash beyond policy; immediate escalation on legal/court/formal complaint threats.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2" y="457200"/>
            <a:ext cx="10728655" cy="1005840"/>
          </a:xfrm>
          <a:prstGeom prst="rect">
            <a:avLst/>
          </a:prstGeom>
          <a:solidFill>
            <a:srgbClr val="0F172A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37160" rtlCol="0" anchor="ctr"/>
          <a:lstStyle/>
          <a:p>
            <a:pPr algn="ctr">
              <a:defRPr sz="1000" b="1">
                <a:solidFill>
                  <a:srgbClr val="0284C7"/>
                </a:solidFill>
              </a:defRPr>
            </a:pPr>
            <a:r>
              <a:t>AIONOS ASSIGNMENT 3 - AIRLINE DISRUPTION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4. Scenario 1 - Priya Nair (Gold Tier, SK4821X)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36914" y="1970314"/>
            <a:ext cx="9339943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defRPr sz="1350">
                <a:solidFill>
                  <a:srgbClr val="0F172A"/>
                </a:solidFill>
              </a:defRPr>
            </a:pPr>
            <a:r>
              <a:rPr dirty="0"/>
              <a:t>Flight Status: Flight SK-204 (Delhi -&gt; Goa) is CANCELLED for operational reasons.</a:t>
            </a:r>
          </a:p>
          <a:p>
            <a:pPr>
              <a:defRPr sz="1350">
                <a:solidFill>
                  <a:srgbClr val="0F172A"/>
                </a:solidFill>
              </a:defRPr>
            </a:pPr>
            <a:r>
              <a:rPr dirty="0"/>
              <a:t>Customer State &amp; Demands: Customer is "furious", demands a full cash refund PLUS a free business class upgrade on her return flight "for the trouble".</a:t>
            </a:r>
          </a:p>
          <a:p>
            <a:pPr>
              <a:defRPr sz="1350">
                <a:solidFill>
                  <a:srgbClr val="0F172A"/>
                </a:solidFill>
              </a:defRPr>
            </a:pPr>
            <a:r>
              <a:rPr dirty="0"/>
              <a:t>Agent Resolution Strategy: </a:t>
            </a:r>
          </a:p>
          <a:p>
            <a:pPr>
              <a:defRPr sz="1350">
                <a:solidFill>
                  <a:srgbClr val="334155"/>
                </a:solidFill>
              </a:defRPr>
            </a:pPr>
            <a:r>
              <a:rPr dirty="0"/>
              <a:t>  - Empathetic De-escalation: Acknowledges Gold loyalty status and expresses sincere apology for the disruption.</a:t>
            </a:r>
          </a:p>
          <a:p>
            <a:pPr>
              <a:defRPr sz="1350">
                <a:solidFill>
                  <a:srgbClr val="334155"/>
                </a:solidFill>
              </a:defRPr>
            </a:pPr>
            <a:r>
              <a:rPr dirty="0"/>
              <a:t>  - Grounded Options Offered: Presents 100% Full Refund (7 business days) OR Free Priority Rebooking on the next flight within 24h.</a:t>
            </a:r>
          </a:p>
          <a:p>
            <a:pPr>
              <a:defRPr sz="1350">
                <a:solidFill>
                  <a:srgbClr val="334155"/>
                </a:solidFill>
              </a:defRPr>
            </a:pPr>
            <a:r>
              <a:rPr dirty="0"/>
              <a:t>  - Policy Boundary Upheld: Politely declines complimentary business class upgrade, citing strict airline disruption policy.</a:t>
            </a:r>
          </a:p>
          <a:p>
            <a:pPr>
              <a:defRPr sz="1350">
                <a:solidFill>
                  <a:srgbClr val="334155"/>
                </a:solidFill>
              </a:defRPr>
            </a:pPr>
            <a:r>
              <a:rPr dirty="0"/>
              <a:t>  - Zero Policy Violation: Does not concede unauthorized upgrade despite high customer agitation.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2" y="457200"/>
            <a:ext cx="10728655" cy="1005840"/>
          </a:xfrm>
          <a:prstGeom prst="rect">
            <a:avLst/>
          </a:prstGeom>
          <a:solidFill>
            <a:srgbClr val="0F172A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37160" rtlCol="0" anchor="ctr"/>
          <a:lstStyle/>
          <a:p>
            <a:pPr algn="ctr">
              <a:defRPr sz="1000" b="1">
                <a:solidFill>
                  <a:srgbClr val="0284C7"/>
                </a:solidFill>
              </a:defRPr>
            </a:pPr>
            <a:r>
              <a:t>AIONOS ASSIGNMENT 3 - AIRLINE DISRUPTION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5. Scenario 2 - Arvind Kulkarni (Silver Tier, TR1190B)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45771" y="2231571"/>
            <a:ext cx="9914406" cy="1823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defRPr sz="1350">
                <a:solidFill>
                  <a:srgbClr val="0F172A"/>
                </a:solidFill>
              </a:defRPr>
            </a:pPr>
            <a:r>
              <a:rPr dirty="0"/>
              <a:t>Flight Status: Flight SK-118 (Mumbai -&gt; Bengaluru) is DELAYED by 4 Hours (rescheduled to 11:10).</a:t>
            </a:r>
          </a:p>
          <a:p>
            <a:pPr>
              <a:defRPr sz="1350">
                <a:solidFill>
                  <a:srgbClr val="0F172A"/>
                </a:solidFill>
              </a:defRPr>
            </a:pPr>
            <a:r>
              <a:rPr dirty="0"/>
              <a:t>Customer State &amp; Demands: Customer is frustrated about missing a connecting business meeting and demands hotel accommodation.</a:t>
            </a:r>
          </a:p>
          <a:p>
            <a:pPr>
              <a:defRPr sz="1350">
                <a:solidFill>
                  <a:srgbClr val="0F172A"/>
                </a:solidFill>
              </a:defRPr>
            </a:pPr>
            <a:r>
              <a:rPr dirty="0"/>
              <a:t>Agent Resolution Strategy: </a:t>
            </a:r>
          </a:p>
          <a:p>
            <a:pPr>
              <a:defRPr sz="1350">
                <a:solidFill>
                  <a:srgbClr val="334155"/>
                </a:solidFill>
              </a:defRPr>
            </a:pPr>
            <a:r>
              <a:rPr dirty="0"/>
              <a:t>  - Immediate Care Entitlements: Issues Meal Voucher and activates Executive Lounge Access per 3-5 hour delay tier.</a:t>
            </a:r>
          </a:p>
          <a:p>
            <a:pPr>
              <a:defRPr sz="1350">
                <a:solidFill>
                  <a:srgbClr val="334155"/>
                </a:solidFill>
              </a:defRPr>
            </a:pPr>
            <a:r>
              <a:rPr dirty="0"/>
              <a:t>  - Hotel Policy Enforcement: Politely explains hotel accommodation is strictly reserved for delays &gt; 5 hours; denies hotel stay.</a:t>
            </a:r>
          </a:p>
          <a:p>
            <a:pPr>
              <a:defRPr sz="1350">
                <a:solidFill>
                  <a:srgbClr val="334155"/>
                </a:solidFill>
              </a:defRPr>
            </a:pPr>
            <a:r>
              <a:rPr dirty="0"/>
              <a:t>  - Hospitality Alternative: Invites customer to work comfortably from the departure lounge with full amenities.</a:t>
            </a:r>
          </a:p>
          <a:p>
            <a:pPr>
              <a:defRPr sz="1350">
                <a:solidFill>
                  <a:srgbClr val="334155"/>
                </a:solidFill>
              </a:defRPr>
            </a:pPr>
            <a:r>
              <a:rPr dirty="0"/>
              <a:t>  - Precision Compliance: Exact match with civil aviation delay compensation guidelines.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2" y="457200"/>
            <a:ext cx="10728655" cy="1005840"/>
          </a:xfrm>
          <a:prstGeom prst="rect">
            <a:avLst/>
          </a:prstGeom>
          <a:solidFill>
            <a:srgbClr val="0F172A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37160" rtlCol="0" anchor="ctr"/>
          <a:lstStyle/>
          <a:p>
            <a:pPr algn="ctr">
              <a:defRPr sz="1000" b="1">
                <a:solidFill>
                  <a:srgbClr val="0284C7"/>
                </a:solidFill>
              </a:defRPr>
            </a:pPr>
            <a:r>
              <a:t>AIONOS ASSIGNMENT 3 - AIRLINE DISRUPTION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6. Scenario 3 - Meher Kaur (Platinum Tier, WL7742)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13114" y="2166257"/>
            <a:ext cx="9252857" cy="22390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defRPr sz="1350">
                <a:solidFill>
                  <a:srgbClr val="0F172A"/>
                </a:solidFill>
              </a:defRPr>
            </a:pPr>
            <a:r>
              <a:rPr dirty="0"/>
              <a:t>Flight Status: Flight SK-305 (Delhi -&gt; Hyderabad) is DELAYED by 6 Hours (rescheduled to 20:00).</a:t>
            </a:r>
          </a:p>
          <a:p>
            <a:pPr>
              <a:defRPr sz="1350">
                <a:solidFill>
                  <a:srgbClr val="0F172A"/>
                </a:solidFill>
              </a:defRPr>
            </a:pPr>
            <a:r>
              <a:rPr dirty="0"/>
              <a:t>Customer Demands: Requests a full night hotel stay (not just delay hours) AND rebooking to an earlier alternative flight with a </a:t>
            </a:r>
            <a:r>
              <a:rPr dirty="0" err="1"/>
              <a:t>Rs</a:t>
            </a:r>
            <a:r>
              <a:rPr dirty="0"/>
              <a:t> 2,000 fare difference.</a:t>
            </a:r>
          </a:p>
          <a:p>
            <a:pPr>
              <a:defRPr sz="1350">
                <a:solidFill>
                  <a:srgbClr val="0F172A"/>
                </a:solidFill>
              </a:defRPr>
            </a:pPr>
            <a:r>
              <a:rPr dirty="0"/>
              <a:t>Agent Resolution Strategy: </a:t>
            </a:r>
          </a:p>
          <a:p>
            <a:pPr>
              <a:defRPr sz="1350">
                <a:solidFill>
                  <a:srgbClr val="334155"/>
                </a:solidFill>
              </a:defRPr>
            </a:pPr>
            <a:r>
              <a:rPr dirty="0"/>
              <a:t>  - 6-Hour Delay Care: Issues Meal Voucher + Executive Lounge Access + Transit Hotel accommodation covering the delay duration only.</a:t>
            </a:r>
          </a:p>
          <a:p>
            <a:pPr>
              <a:defRPr sz="1350">
                <a:solidFill>
                  <a:srgbClr val="334155"/>
                </a:solidFill>
              </a:defRPr>
            </a:pPr>
            <a:r>
              <a:rPr dirty="0"/>
              <a:t>  - Authority Boundary Enforcement: Detects that the </a:t>
            </a:r>
            <a:r>
              <a:rPr dirty="0" err="1"/>
              <a:t>Rs</a:t>
            </a:r>
            <a:r>
              <a:rPr dirty="0"/>
              <a:t> 2,000 fare difference exceeds front-line waiver threshold of </a:t>
            </a:r>
            <a:r>
              <a:rPr dirty="0" err="1"/>
              <a:t>Rs</a:t>
            </a:r>
            <a:r>
              <a:rPr dirty="0"/>
              <a:t> 1,500.</a:t>
            </a:r>
          </a:p>
          <a:p>
            <a:pPr>
              <a:defRPr sz="1350">
                <a:solidFill>
                  <a:srgbClr val="334155"/>
                </a:solidFill>
              </a:defRPr>
            </a:pPr>
            <a:r>
              <a:rPr dirty="0"/>
              <a:t>  - Platinum Supervisor Escalation: Immediately escalates fare difference approval to Duty Supervisor with Platinum Priority tag.</a:t>
            </a:r>
          </a:p>
          <a:p>
            <a:pPr>
              <a:defRPr sz="1350">
                <a:solidFill>
                  <a:srgbClr val="334155"/>
                </a:solidFill>
              </a:defRPr>
            </a:pPr>
            <a:r>
              <a:rPr dirty="0"/>
              <a:t>  - Partial Fulfillment: Grants authorized items directly while escalating out-of-scope items cleanly.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2" y="457200"/>
            <a:ext cx="10728655" cy="1005840"/>
          </a:xfrm>
          <a:prstGeom prst="rect">
            <a:avLst/>
          </a:prstGeom>
          <a:solidFill>
            <a:srgbClr val="0F172A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37160" rtlCol="0" anchor="ctr"/>
          <a:lstStyle/>
          <a:p>
            <a:pPr algn="ctr">
              <a:defRPr sz="1000" b="1">
                <a:solidFill>
                  <a:srgbClr val="0284C7"/>
                </a:solidFill>
              </a:defRPr>
            </a:pPr>
            <a:r>
              <a:t>AIONOS ASSIGNMENT 3 - AIRLINE DISRUPTION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7. AI Tools, Models &amp; Engineering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31571" y="2307770"/>
            <a:ext cx="7696200" cy="30700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defRPr sz="1350">
                <a:solidFill>
                  <a:srgbClr val="0F172A"/>
                </a:solidFill>
              </a:defRPr>
            </a:pPr>
            <a:r>
              <a:rPr dirty="0"/>
              <a:t>Core Language Model: Google Gemini 2.5 Flash API (low temperature 0.2 for strict grounding) with deterministic rule synthesis.</a:t>
            </a:r>
          </a:p>
          <a:p>
            <a:pPr>
              <a:defRPr sz="1350">
                <a:solidFill>
                  <a:srgbClr val="0F172A"/>
                </a:solidFill>
              </a:defRPr>
            </a:pPr>
            <a:r>
              <a:rPr dirty="0"/>
              <a:t>Deterministic Fallback: </a:t>
            </a:r>
            <a:r>
              <a:rPr dirty="0" err="1"/>
              <a:t>SmartDeterministicClient</a:t>
            </a:r>
            <a:r>
              <a:rPr dirty="0"/>
              <a:t> with regex intent classifier enabling 100% offline recruiter evaluation.</a:t>
            </a:r>
          </a:p>
          <a:p>
            <a:pPr>
              <a:defRPr sz="1350">
                <a:solidFill>
                  <a:srgbClr val="0F172A"/>
                </a:solidFill>
              </a:defRPr>
            </a:pPr>
            <a:r>
              <a:rPr dirty="0"/>
              <a:t>Frontend Framework: </a:t>
            </a:r>
            <a:r>
              <a:rPr dirty="0" err="1"/>
              <a:t>Streamlit</a:t>
            </a:r>
            <a:r>
              <a:rPr dirty="0"/>
              <a:t> with Custom CSS Aviation Sky/Starry Night themes and 1-tap passenger switcher.</a:t>
            </a:r>
          </a:p>
          <a:p>
            <a:pPr>
              <a:defRPr sz="1350">
                <a:solidFill>
                  <a:srgbClr val="0F172A"/>
                </a:solidFill>
              </a:defRPr>
            </a:pPr>
            <a:r>
              <a:rPr dirty="0"/>
              <a:t>PDF Certificate Engine: </a:t>
            </a:r>
            <a:r>
              <a:rPr dirty="0" err="1"/>
              <a:t>ReportLab</a:t>
            </a:r>
            <a:r>
              <a:rPr dirty="0"/>
              <a:t> 5.0 for dynamic issuance of official Disruption Claim Slips &amp; Tax Invoices.</a:t>
            </a:r>
          </a:p>
          <a:p>
            <a:pPr>
              <a:defRPr sz="1350">
                <a:solidFill>
                  <a:srgbClr val="0F172A"/>
                </a:solidFill>
              </a:defRPr>
            </a:pPr>
            <a:r>
              <a:rPr dirty="0"/>
              <a:t>Multi-Language Engine: Bilingual translation layer (English &lt;-&gt; </a:t>
            </a:r>
            <a:r>
              <a:rPr dirty="0" err="1"/>
              <a:t>हिन्दी</a:t>
            </a:r>
            <a:r>
              <a:rPr dirty="0"/>
              <a:t>) adapting UI and conversational responses.</a:t>
            </a:r>
          </a:p>
          <a:p>
            <a:pPr>
              <a:defRPr sz="1350">
                <a:solidFill>
                  <a:srgbClr val="0F172A"/>
                </a:solidFill>
              </a:defRPr>
            </a:pPr>
            <a:r>
              <a:rPr dirty="0"/>
              <a:t>Testing &amp; QA: </a:t>
            </a:r>
            <a:r>
              <a:rPr dirty="0" err="1"/>
              <a:t>PyTest</a:t>
            </a:r>
            <a:r>
              <a:rPr dirty="0"/>
              <a:t> suite with 55 unit/integration tests verifying 100% rules engine and data repository coverage.</a:t>
            </a:r>
          </a:p>
          <a:p>
            <a:pPr>
              <a:defRPr sz="1350">
                <a:solidFill>
                  <a:srgbClr val="0F172A"/>
                </a:solidFill>
              </a:defRPr>
            </a:pPr>
            <a:r>
              <a:rPr dirty="0"/>
              <a:t>Audit Infrastructure: Append-only JSONL logger tracking timestamps, customer sentiment drift, and supervisor actions.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2" y="457200"/>
            <a:ext cx="10728655" cy="1005840"/>
          </a:xfrm>
          <a:prstGeom prst="rect">
            <a:avLst/>
          </a:prstGeom>
          <a:solidFill>
            <a:srgbClr val="0F172A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37160" rtlCol="0" anchor="ctr"/>
          <a:lstStyle/>
          <a:p>
            <a:pPr algn="ctr">
              <a:defRPr sz="1000" b="1">
                <a:solidFill>
                  <a:srgbClr val="0284C7"/>
                </a:solidFill>
              </a:defRPr>
            </a:pPr>
            <a:r>
              <a:t>AIONOS ASSIGNMENT 3 - AIRLINE DISRUPTION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8. Business Impact, ROI &amp; Operational Metrics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70314" y="1709058"/>
            <a:ext cx="7347857" cy="2523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defRPr sz="1400">
                <a:solidFill>
                  <a:srgbClr val="0F172A"/>
                </a:solidFill>
              </a:defRPr>
            </a:pPr>
            <a:r>
              <a:rPr dirty="0"/>
              <a:t>Average Resolution Time: Reduced from 18 minutes (manual human phone queue) to under 15 seconds (98.6% faster).</a:t>
            </a:r>
          </a:p>
          <a:p>
            <a:pPr>
              <a:defRPr sz="1400">
                <a:solidFill>
                  <a:srgbClr val="0F172A"/>
                </a:solidFill>
              </a:defRPr>
            </a:pPr>
            <a:r>
              <a:rPr dirty="0"/>
              <a:t>Operational Cost Reduction: Resolves ~75% of disruption interactions without human agent intervention, cutting support costs by 68%.</a:t>
            </a:r>
          </a:p>
          <a:p>
            <a:pPr>
              <a:defRPr sz="1400">
                <a:solidFill>
                  <a:srgbClr val="0F172A"/>
                </a:solidFill>
              </a:defRPr>
            </a:pPr>
            <a:r>
              <a:rPr dirty="0"/>
              <a:t>Policy Compliance Rate: 100% zero unauthorized compensation leakage (zero hallucinated business class upgrades or unapproved waivers).</a:t>
            </a:r>
          </a:p>
          <a:p>
            <a:pPr>
              <a:defRPr sz="1400">
                <a:solidFill>
                  <a:srgbClr val="0F172A"/>
                </a:solidFill>
              </a:defRPr>
            </a:pPr>
            <a:r>
              <a:rPr dirty="0"/>
              <a:t>Customer NPS Impact: Instant meal/lounge voucher delivery and transparent claim certificates increase retention during crisis events.</a:t>
            </a:r>
          </a:p>
          <a:p>
            <a:pPr>
              <a:defRPr sz="1400">
                <a:solidFill>
                  <a:srgbClr val="0F172A"/>
                </a:solidFill>
              </a:defRPr>
            </a:pPr>
            <a:r>
              <a:rPr dirty="0"/>
              <a:t>Supervisor Productivity: Supervisors receive pre-classified, structured escalation dossiers with exact policy context.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2" y="457200"/>
            <a:ext cx="10728655" cy="1005840"/>
          </a:xfrm>
          <a:prstGeom prst="rect">
            <a:avLst/>
          </a:prstGeom>
          <a:solidFill>
            <a:srgbClr val="0F172A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37160" rtlCol="0" anchor="ctr"/>
          <a:lstStyle/>
          <a:p>
            <a:pPr algn="ctr">
              <a:defRPr sz="1000" b="1">
                <a:solidFill>
                  <a:srgbClr val="0284C7"/>
                </a:solidFill>
              </a:defRPr>
            </a:pPr>
            <a:r>
              <a:t>AIONOS ASSIGNMENT 3 - AIRLINE DISRUPTION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9. Defence Q&amp;A, Failure Modes &amp; Key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67543" y="1883229"/>
            <a:ext cx="8599714" cy="2169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defRPr sz="1300">
                <a:solidFill>
                  <a:srgbClr val="0F172A"/>
                </a:solidFill>
              </a:defRPr>
            </a:pPr>
            <a:r>
              <a:rPr dirty="0"/>
              <a:t>Q1: How do you prevent LLM hallucinations? Decision logic is computed in pure Python before the LLM prompt is assembled. LLM is strictly constrained to NLG surface realization.</a:t>
            </a:r>
          </a:p>
          <a:p>
            <a:pPr>
              <a:defRPr sz="1300">
                <a:solidFill>
                  <a:srgbClr val="0F172A"/>
                </a:solidFill>
              </a:defRPr>
            </a:pPr>
            <a:r>
              <a:rPr dirty="0"/>
              <a:t>Q2: How does the system handle complex multi-intent messages? Parser extracts all intent components; rules engine evaluates each independently (e.g. approving hotel while escalating fare difference).</a:t>
            </a:r>
          </a:p>
          <a:p>
            <a:pPr>
              <a:defRPr sz="1300">
                <a:solidFill>
                  <a:srgbClr val="0F172A"/>
                </a:solidFill>
              </a:defRPr>
            </a:pPr>
            <a:r>
              <a:rPr dirty="0"/>
              <a:t>Q3: What happens during API outage or rate limits? Automatic failover to </a:t>
            </a:r>
            <a:r>
              <a:rPr dirty="0" err="1"/>
              <a:t>SmartDeterministicClient</a:t>
            </a:r>
            <a:r>
              <a:rPr dirty="0"/>
              <a:t> guarantees 100% uptime with zero downtime.</a:t>
            </a:r>
          </a:p>
          <a:p>
            <a:pPr>
              <a:defRPr sz="1300">
                <a:solidFill>
                  <a:srgbClr val="0F172A"/>
                </a:solidFill>
              </a:defRPr>
            </a:pPr>
            <a:r>
              <a:rPr dirty="0"/>
              <a:t>Q4: How does the agent handle legal threats? Instant keyword and sentiment escalation bypasses normal flow, alerting human specialists with immutable audit logs.</a:t>
            </a:r>
          </a:p>
          <a:p>
            <a:pPr>
              <a:defRPr sz="1300">
                <a:solidFill>
                  <a:srgbClr val="0F172A"/>
                </a:solidFill>
              </a:defRPr>
            </a:pPr>
            <a:r>
              <a:rPr dirty="0"/>
              <a:t>Final Summary: A production-grade, grounded, multi-lingual disruption care system built strictly within assignment guidelines.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outure">
  <a:themeElements>
    <a:clrScheme name="Couture">
      <a:dk1>
        <a:sysClr val="windowText" lastClr="000000"/>
      </a:dk1>
      <a:lt1>
        <a:sysClr val="window" lastClr="FFFFFF"/>
      </a:lt1>
      <a:dk2>
        <a:srgbClr val="37302A"/>
      </a:dk2>
      <a:lt2>
        <a:srgbClr val="D0CCB9"/>
      </a:lt2>
      <a:accent1>
        <a:srgbClr val="9E8E5C"/>
      </a:accent1>
      <a:accent2>
        <a:srgbClr val="A09781"/>
      </a:accent2>
      <a:accent3>
        <a:srgbClr val="85776D"/>
      </a:accent3>
      <a:accent4>
        <a:srgbClr val="AEAFA9"/>
      </a:accent4>
      <a:accent5>
        <a:srgbClr val="8D878B"/>
      </a:accent5>
      <a:accent6>
        <a:srgbClr val="6B6149"/>
      </a:accent6>
      <a:hlink>
        <a:srgbClr val="B6A272"/>
      </a:hlink>
      <a:folHlink>
        <a:srgbClr val="8A784F"/>
      </a:folHlink>
    </a:clrScheme>
    <a:fontScheme name="Black Tie">
      <a:majorFont>
        <a:latin typeface="Garamond"/>
        <a:ea typeface=""/>
        <a:cs typeface=""/>
        <a:font script="Grek" typeface="Constantia"/>
        <a:font script="Cyrl" typeface="Constantia"/>
        <a:font script="Jpan" typeface="ＭＳ Ｐ明朝"/>
        <a:font script="Hang" typeface="궁서"/>
        <a:font script="Hans" typeface="仿宋"/>
        <a:font script="Hant" typeface="標楷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aramond"/>
        <a:ea typeface=""/>
        <a:cs typeface=""/>
        <a:font script="Grek" typeface="Constantia"/>
        <a:font script="Cyrl" typeface="Constantia"/>
        <a:font script="Jpan" typeface="ＭＳ Ｐ明朝"/>
        <a:font script="Hang" typeface="궁서"/>
        <a:font script="Hans" typeface="仿宋"/>
        <a:font script="Hant" typeface="標楷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70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100000" r="100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30000"/>
                <a:satMod val="200000"/>
              </a:schemeClr>
              <a:schemeClr val="phClr">
                <a:tint val="20000"/>
              </a:schemeClr>
            </a:duotone>
          </a:blip>
          <a:stretch/>
        </a:blip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Couture</Template>
  <TotalTime>4</TotalTime>
  <Words>1396</Words>
  <Application>Microsoft Office PowerPoint</Application>
  <PresentationFormat>Custom</PresentationFormat>
  <Paragraphs>94</Paragraphs>
  <Slides>10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1" baseType="lpstr">
      <vt:lpstr>Couture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CENTER LAB-3</dc:creator>
  <dc:description>generated using python-pptx</dc:description>
  <cp:lastModifiedBy>CENTER LAB-3</cp:lastModifiedBy>
  <cp:revision>2</cp:revision>
  <dcterms:created xsi:type="dcterms:W3CDTF">2013-01-27T09:14:16Z</dcterms:created>
  <dcterms:modified xsi:type="dcterms:W3CDTF">2026-09-18T07:32:04Z</dcterms:modified>
</cp:coreProperties>
</file>