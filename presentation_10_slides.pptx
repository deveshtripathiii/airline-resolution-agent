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7" d="100"/>
          <a:sy n="87" d="100"/>
        </p:scale>
        <p:origin x="-624" y="-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/>
          <p:cNvSpPr>
            <a:spLocks noGrp="1"/>
          </p:cNvSpPr>
          <p:nvPr>
            <p:ph type="ctrTitle"/>
          </p:nvPr>
        </p:nvSpPr>
        <p:spPr>
          <a:xfrm>
            <a:off x="1910080" y="359898"/>
            <a:ext cx="9875520" cy="1472184"/>
          </a:xfrm>
        </p:spPr>
        <p:txBody>
          <a:bodyPr anchor="b"/>
          <a:lstStyle>
            <a:lvl1pPr algn="l"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22" name="Subtitle 21"/>
          <p:cNvSpPr>
            <a:spLocks noGrp="1"/>
          </p:cNvSpPr>
          <p:nvPr>
            <p:ph type="subTitle" idx="1"/>
          </p:nvPr>
        </p:nvSpPr>
        <p:spPr>
          <a:xfrm>
            <a:off x="1910080" y="1850064"/>
            <a:ext cx="9875520" cy="1752600"/>
          </a:xfrm>
        </p:spPr>
        <p:txBody>
          <a:bodyPr tIns="0"/>
          <a:lstStyle>
            <a:lvl1pPr marL="27432" indent="0" algn="l">
              <a:buNone/>
              <a:defRPr sz="26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20" name="Footer Placeholder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1228577" y="1413802"/>
            <a:ext cx="280416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Oval 8"/>
          <p:cNvSpPr/>
          <p:nvPr/>
        </p:nvSpPr>
        <p:spPr>
          <a:xfrm>
            <a:off x="1542901" y="1345016"/>
            <a:ext cx="85344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43853" y="-54"/>
            <a:ext cx="91440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37856" y="2600325"/>
            <a:ext cx="8534400" cy="2286000"/>
          </a:xfrm>
        </p:spPr>
        <p:txBody>
          <a:bodyPr anchor="t"/>
          <a:lstStyle>
            <a:lvl1pPr algn="l">
              <a:lnSpc>
                <a:spcPts val="4500"/>
              </a:lnSpc>
              <a:buNone/>
              <a:defRPr sz="4000" b="1" cap="all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37856" y="1066800"/>
            <a:ext cx="8534400" cy="1509712"/>
          </a:xfrm>
        </p:spPr>
        <p:txBody>
          <a:bodyPr anchor="b"/>
          <a:lstStyle>
            <a:lvl1pPr marL="18288" indent="0">
              <a:lnSpc>
                <a:spcPts val="2300"/>
              </a:lnSpc>
              <a:spcBef>
                <a:spcPts val="0"/>
              </a:spcBef>
              <a:buNone/>
              <a:defRPr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/>
          <p:cNvSpPr/>
          <p:nvPr/>
        </p:nvSpPr>
        <p:spPr bwMode="invGray">
          <a:xfrm>
            <a:off x="3048000" y="0"/>
            <a:ext cx="1016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Oval 7"/>
          <p:cNvSpPr/>
          <p:nvPr/>
        </p:nvSpPr>
        <p:spPr>
          <a:xfrm>
            <a:off x="2896428" y="2814656"/>
            <a:ext cx="280416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Oval 8"/>
          <p:cNvSpPr/>
          <p:nvPr/>
        </p:nvSpPr>
        <p:spPr>
          <a:xfrm>
            <a:off x="3210752" y="2745870"/>
            <a:ext cx="85344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14144" y="274320"/>
            <a:ext cx="9997440" cy="1143000"/>
          </a:xfrm>
        </p:spPr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14144" y="1524000"/>
            <a:ext cx="48768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34784" y="1524000"/>
            <a:ext cx="48768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160336"/>
            <a:ext cx="10972800" cy="1143000"/>
          </a:xfrm>
        </p:spPr>
        <p:txBody>
          <a:bodyPr anchor="ctr"/>
          <a:lstStyle>
            <a:lvl1pPr algn="ctr">
              <a:defRPr sz="4500" b="1" cap="none" baseline="0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328278"/>
            <a:ext cx="536448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217920" y="328278"/>
            <a:ext cx="536448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609600" y="969336"/>
            <a:ext cx="536448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969336"/>
            <a:ext cx="536448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14144" y="274320"/>
            <a:ext cx="9997440" cy="1143000"/>
          </a:xfrm>
        </p:spPr>
        <p:txBody>
          <a:bodyPr anchor="ctr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353312" y="0"/>
            <a:ext cx="10838688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/>
          <p:cNvSpPr/>
          <p:nvPr/>
        </p:nvSpPr>
        <p:spPr bwMode="invGray">
          <a:xfrm>
            <a:off x="1353312" y="-54"/>
            <a:ext cx="97536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16778"/>
            <a:ext cx="5080000" cy="1162050"/>
          </a:xfrm>
          <a:ln>
            <a:noFill/>
          </a:ln>
        </p:spPr>
        <p:txBody>
          <a:bodyPr anchor="b"/>
          <a:lstStyle>
            <a:lvl1pPr algn="l">
              <a:lnSpc>
                <a:spcPts val="2000"/>
              </a:lnSpc>
              <a:buNone/>
              <a:defRPr sz="2200" b="1" cap="all" baseline="0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09600" y="1406964"/>
            <a:ext cx="5080000" cy="698500"/>
          </a:xfrm>
        </p:spPr>
        <p:txBody>
          <a:bodyPr/>
          <a:lstStyle>
            <a:lvl1pPr marL="4572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609600" y="2133601"/>
            <a:ext cx="10871200" cy="39925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49195" y="1066800"/>
            <a:ext cx="3657600" cy="1981200"/>
          </a:xfrm>
        </p:spPr>
        <p:txBody>
          <a:bodyPr anchor="b">
            <a:noAutofit/>
          </a:bodyPr>
          <a:lstStyle>
            <a:lvl1pPr algn="l">
              <a:buNone/>
              <a:defRPr sz="2100" b="1"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016000" y="1066800"/>
            <a:ext cx="6096000" cy="4572000"/>
          </a:xfrm>
          <a:prstGeom prst="rect">
            <a:avLst/>
          </a:prstGeom>
          <a:solidFill>
            <a:srgbClr val="FFFFFF"/>
          </a:solidFill>
          <a:ln w="88900" cap="sq">
            <a:solidFill>
              <a:srgbClr val="FFFFFF"/>
            </a:solidFill>
            <a:miter lim="800000"/>
          </a:ln>
          <a:effectLst>
            <a:outerShdw blurRad="55500" dist="18500" dir="5400000" algn="tl" rotWithShape="0">
              <a:srgbClr val="000000">
                <a:alpha val="3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635">
            <a:bevelT w="25400" h="19050"/>
            <a:contourClr>
              <a:srgbClr val="969696"/>
            </a:contourClr>
          </a:sp3d>
        </p:spPr>
        <p:txBody>
          <a:bodyPr lIns="91440" tIns="274320" rtlCol="0" anchor="t">
            <a:normAutofit/>
          </a:bodyPr>
          <a:lstStyle>
            <a:extLst/>
          </a:lstStyle>
          <a:p>
            <a:pPr marL="0" indent="-283464" algn="l" rtl="0" eaLnBrk="1" latinLnBrk="0" hangingPunct="1">
              <a:lnSpc>
                <a:spcPts val="3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None/>
            </a:pPr>
            <a:endParaRPr kumimoji="0" lang="en-US" sz="32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17600" y="1143004"/>
            <a:ext cx="5892800" cy="3514531"/>
          </a:xfrm>
          <a:prstGeom prst="roundRect">
            <a:avLst>
              <a:gd name="adj" fmla="val 783"/>
            </a:avLst>
          </a:prstGeom>
          <a:solidFill>
            <a:schemeClr val="bg2"/>
          </a:solidFill>
          <a:ln w="127000">
            <a:noFill/>
            <a:miter lim="800000"/>
          </a:ln>
          <a:effectLst/>
        </p:spPr>
        <p:txBody>
          <a:bodyPr lIns="91440" tIns="274320" anchor="t"/>
          <a:lstStyle>
            <a:lvl1pPr indent="0">
              <a:buNone/>
              <a:defRPr sz="3200"/>
            </a:lvl1pPr>
            <a:extLst/>
          </a:lstStyle>
          <a:p>
            <a:pPr marL="0" algn="l" eaLnBrk="1" latinLnBrk="0" hangingPunct="1"/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9" name="Flowchart: Process 8"/>
          <p:cNvSpPr/>
          <p:nvPr/>
        </p:nvSpPr>
        <p:spPr>
          <a:xfrm rot="19468671">
            <a:off x="528967" y="954341"/>
            <a:ext cx="914400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shade val="90000"/>
                <a:satMod val="200000"/>
                <a:alpha val="4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0" name="Flowchart: Process 9"/>
          <p:cNvSpPr/>
          <p:nvPr/>
        </p:nvSpPr>
        <p:spPr>
          <a:xfrm rot="2103354" flipH="1">
            <a:off x="6671556" y="936786"/>
            <a:ext cx="865632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alpha val="2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7600" y="4800600"/>
            <a:ext cx="5892800" cy="762000"/>
          </a:xfrm>
        </p:spPr>
        <p:txBody>
          <a:bodyPr anchor="ctr"/>
          <a:lstStyle>
            <a:lvl1pPr marL="0" indent="0" algn="l">
              <a:lnSpc>
                <a:spcPts val="1600"/>
              </a:lnSpc>
              <a:spcBef>
                <a:spcPts val="0"/>
              </a:spcBef>
              <a:buNone/>
              <a:defRPr sz="1400">
                <a:solidFill>
                  <a:srgbClr val="777777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44000" y="274640"/>
            <a:ext cx="2438400" cy="5851525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4000" y="274641"/>
            <a:ext cx="74168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e 6"/>
          <p:cNvSpPr/>
          <p:nvPr/>
        </p:nvSpPr>
        <p:spPr>
          <a:xfrm>
            <a:off x="-1087902" y="-815922"/>
            <a:ext cx="2185183" cy="1638887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Oval 7"/>
          <p:cNvSpPr/>
          <p:nvPr/>
        </p:nvSpPr>
        <p:spPr>
          <a:xfrm>
            <a:off x="225089" y="21103"/>
            <a:ext cx="2269588" cy="1702191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Donut 10"/>
          <p:cNvSpPr/>
          <p:nvPr/>
        </p:nvSpPr>
        <p:spPr>
          <a:xfrm rot="2315675">
            <a:off x="243842" y="1055077"/>
            <a:ext cx="1500956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-407500" t="-50000" r="507500" b="15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>
          <a:xfrm>
            <a:off x="1350498" y="-54"/>
            <a:ext cx="10841503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5" name="Title Placeholder 4"/>
          <p:cNvSpPr>
            <a:spLocks noGrp="1"/>
          </p:cNvSpPr>
          <p:nvPr>
            <p:ph type="title"/>
          </p:nvPr>
        </p:nvSpPr>
        <p:spPr>
          <a:xfrm>
            <a:off x="1914144" y="274638"/>
            <a:ext cx="9997440" cy="1143000"/>
          </a:xfrm>
          <a:prstGeom prst="rect">
            <a:avLst/>
          </a:prstGeom>
        </p:spPr>
        <p:txBody>
          <a:bodyPr anchor="ctr">
            <a:normAutofit/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9" name="Text Placeholder 8"/>
          <p:cNvSpPr>
            <a:spLocks noGrp="1"/>
          </p:cNvSpPr>
          <p:nvPr>
            <p:ph type="body" idx="1"/>
          </p:nvPr>
        </p:nvSpPr>
        <p:spPr>
          <a:xfrm>
            <a:off x="1914144" y="1447800"/>
            <a:ext cx="9997440" cy="4800600"/>
          </a:xfrm>
          <a:prstGeom prst="rect">
            <a:avLst/>
          </a:prstGeom>
        </p:spPr>
        <p:txBody>
          <a:bodyPr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24" name="Date Placeholder 23"/>
          <p:cNvSpPr>
            <a:spLocks noGrp="1"/>
          </p:cNvSpPr>
          <p:nvPr>
            <p:ph type="dt" sz="half" idx="2"/>
          </p:nvPr>
        </p:nvSpPr>
        <p:spPr>
          <a:xfrm>
            <a:off x="4775200" y="6305550"/>
            <a:ext cx="2844800" cy="476250"/>
          </a:xfrm>
          <a:prstGeom prst="rect">
            <a:avLst/>
          </a:prstGeom>
        </p:spPr>
        <p:txBody>
          <a:bodyPr anchor="b"/>
          <a:lstStyle>
            <a:lvl1pPr algn="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  <a:extLst/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7620000" y="6305550"/>
            <a:ext cx="3860800" cy="476250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endParaRPr 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4"/>
          </p:nvPr>
        </p:nvSpPr>
        <p:spPr>
          <a:xfrm>
            <a:off x="11484864" y="6305550"/>
            <a:ext cx="609600" cy="476250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5" name="Rectangle 14"/>
          <p:cNvSpPr/>
          <p:nvPr/>
        </p:nvSpPr>
        <p:spPr bwMode="invGray">
          <a:xfrm>
            <a:off x="1353312" y="-54"/>
            <a:ext cx="97536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rtl="0" eaLnBrk="1" latinLnBrk="0" hangingPunct="1">
        <a:spcBef>
          <a:spcPct val="0"/>
        </a:spcBef>
        <a:buNone/>
        <a:defRPr kumimoji="0" sz="4300" kern="1200">
          <a:solidFill>
            <a:schemeClr val="tx2">
              <a:satMod val="130000"/>
            </a:schemeClr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83464" algn="l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SzPct val="80000"/>
        <a:buFont typeface="Wingdings 2"/>
        <a:buChar char="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37744" algn="l" rtl="0" eaLnBrk="1" latinLnBrk="0" hangingPunct="1">
        <a:lnSpc>
          <a:spcPct val="100000"/>
        </a:lnSpc>
        <a:spcBef>
          <a:spcPts val="550"/>
        </a:spcBef>
        <a:buClr>
          <a:schemeClr val="accent1"/>
        </a:buClr>
        <a:buFont typeface="Verdana"/>
        <a:buChar char="◦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886968" indent="-228600" algn="l" rtl="0" eaLnBrk="1" latinLnBrk="0" hangingPunct="1">
        <a:lnSpc>
          <a:spcPct val="100000"/>
        </a:lnSpc>
        <a:spcBef>
          <a:spcPct val="20000"/>
        </a:spcBef>
        <a:buClr>
          <a:schemeClr val="accent2"/>
        </a:buClr>
        <a:buFont typeface="Wingdings 2"/>
        <a:buChar char="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173736" algn="l" rtl="0" eaLnBrk="1" latinLnBrk="0" hangingPunct="1">
        <a:lnSpc>
          <a:spcPct val="100000"/>
        </a:lnSpc>
        <a:spcBef>
          <a:spcPct val="20000"/>
        </a:spcBef>
        <a:buClr>
          <a:schemeClr val="accent3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182880" algn="l" rtl="0" eaLnBrk="1" latinLnBrk="0" hangingPunct="1">
        <a:lnSpc>
          <a:spcPct val="100000"/>
        </a:lnSpc>
        <a:spcBef>
          <a:spcPct val="20000"/>
        </a:spcBef>
        <a:buClr>
          <a:schemeClr val="accent4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lnSpc>
          <a:spcPct val="100000"/>
        </a:lnSpc>
        <a:spcBef>
          <a:spcPct val="20000"/>
        </a:spcBef>
        <a:buClr>
          <a:schemeClr val="accent5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" y="0"/>
            <a:ext cx="12191695" cy="6858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6583680" cy="4114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✈️ DATA PACK - ASSIGNMENT 3: CUSTOMER-FACING RESOLUTION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2" y="1234440"/>
            <a:ext cx="10362895" cy="1154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Autonomous Airline Disruption Agent</a:t>
            </a:r>
          </a:p>
          <a:p>
            <a:pPr>
              <a:defRPr sz="2000" b="1">
                <a:solidFill>
                  <a:srgbClr val="0284C7"/>
                </a:solidFill>
              </a:defRPr>
            </a:pPr>
            <a:r>
              <a:t>SkyWay Airlines Resolution System with Deterministic Policy Guardrails</a:t>
            </a:r>
          </a:p>
          <a:p>
            <a:pPr>
              <a:defRPr sz="1300">
                <a:solidFill>
                  <a:srgbClr val="E0F2FE"/>
                </a:solidFill>
              </a:defRPr>
            </a:pPr>
            <a:r>
              <a:t>Context Exercise Date: Wednesday, 23 September 2026 | Zero External Data Assumptions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474720"/>
            <a:ext cx="3291840" cy="20116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🛡️ Zero-Hallucination Engine</a:t>
            </a:r>
          </a:p>
          <a:p>
            <a:r>
              <a:t/>
            </a:r>
            <a:br/>
            <a:r>
              <a:t>Deterministic Python rules engine executing 100% grounded policy decisions, delay vouchers, &amp; ₹1,500 supervisor waiver limits.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3983" y="3474720"/>
            <a:ext cx="3291840" cy="20116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👥 3 Grounded Scenarios</a:t>
            </a:r>
          </a:p>
          <a:p>
            <a:r>
              <a:t/>
            </a:r>
            <a:br/>
            <a:r>
              <a:t>End-to-end resolution for Priya Nair (Gold), Arvind Kulkarni (Silver), &amp; Meher Kaur (Platinum) with escalation handling.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73567" y="3474720"/>
            <a:ext cx="3291840" cy="20116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🌐 Production UI &amp; Artefacts</a:t>
            </a:r>
          </a:p>
          <a:p>
            <a:r>
              <a:t/>
            </a:r>
            <a:br/>
            <a:r>
              <a:t>Multi-Language (English &lt;-&gt; हिन्दी), Instant 1-tap Passenger Switcher, and Official Downloadable PDF Claim Receipts.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2" y="5715000"/>
            <a:ext cx="10362895" cy="594360"/>
          </a:xfrm>
          <a:prstGeom prst="rect">
            <a:avLst/>
          </a:prstGeom>
          <a:solidFill>
            <a:srgbClr val="0A0F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E0F2FE"/>
                </a:solidFill>
              </a:defRPr>
            </a:pPr>
            <a:r>
              <a:t>Presenter: Devesh Tripathi  |  AIONOS Agentic AI Factory Assignment 3 Defence  |  Test Suite: 55/55 Passing (100%)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64971" y="457200"/>
            <a:ext cx="7424058" cy="1005840"/>
          </a:xfrm>
          <a:prstGeom prst="rect">
            <a:avLst/>
          </a:prstGeom>
          <a:solidFill>
            <a:srgbClr val="92D050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tlCol="0" anchor="ctr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rPr dirty="0"/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rPr dirty="0"/>
              <a:t>1. Business Problem &amp; Mission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6771" y="2558143"/>
            <a:ext cx="9533406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1400">
                <a:solidFill>
                  <a:srgbClr val="0F172A"/>
                </a:solidFill>
              </a:defRPr>
            </a:pPr>
            <a:r>
              <a:rPr dirty="0"/>
              <a:t>The Challenge: Airline disruptions (cancellations and multi-hour delays) cause immense customer frustration, leading to angry passengers demanding arbitrary upgrades, refunds, or threatening legal action.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rPr dirty="0"/>
              <a:t>The Business Risk: Pure LLM bots suffer from hallucination, authorizing unauthorized compensation or exceeding financial authority thresholds (e.g. fare difference waivers).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rPr dirty="0"/>
              <a:t>The Objective: Build an autonomous customer-facing resolution agent that:</a:t>
            </a:r>
          </a:p>
          <a:p>
            <a:pPr>
              <a:defRPr sz="1400">
                <a:solidFill>
                  <a:srgbClr val="334155"/>
                </a:solidFill>
              </a:defRPr>
            </a:pPr>
            <a:r>
              <a:rPr dirty="0"/>
              <a:t>  - Understands Intent &amp; Sentiment: Detects customer emotional state and exact request.</a:t>
            </a:r>
          </a:p>
          <a:p>
            <a:pPr>
              <a:defRPr sz="1400">
                <a:solidFill>
                  <a:srgbClr val="334155"/>
                </a:solidFill>
              </a:defRPr>
            </a:pPr>
            <a:r>
              <a:rPr dirty="0"/>
              <a:t>  - Strictly Enforces Grounded Policy: Determines entitlements deterministically from data pack rules.</a:t>
            </a:r>
          </a:p>
          <a:p>
            <a:pPr>
              <a:defRPr sz="1400">
                <a:solidFill>
                  <a:srgbClr val="334155"/>
                </a:solidFill>
              </a:defRPr>
            </a:pPr>
            <a:r>
              <a:rPr dirty="0"/>
              <a:t>  - Protects Airline Authority: Escalates cases exceeding front-line limits (e.g., fare diff &gt; </a:t>
            </a:r>
            <a:r>
              <a:rPr dirty="0" err="1"/>
              <a:t>Rs</a:t>
            </a:r>
            <a:r>
              <a:rPr dirty="0"/>
              <a:t> 1,500, legal threats) to human supervisors.</a:t>
            </a:r>
          </a:p>
          <a:p>
            <a:pPr>
              <a:defRPr sz="1400">
                <a:solidFill>
                  <a:srgbClr val="334155"/>
                </a:solidFill>
              </a:defRPr>
            </a:pPr>
            <a:r>
              <a:rPr dirty="0"/>
              <a:t>  - Maintains Full Audit Trail: Preserves append-only immutable records of every turn and decision.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76601" y="457200"/>
            <a:ext cx="6781800" cy="1005840"/>
          </a:xfrm>
          <a:prstGeom prst="rect">
            <a:avLst/>
          </a:prstGeom>
          <a:solidFill>
            <a:srgbClr val="92D050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tlCol="0" anchor="ctr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rPr dirty="0"/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rPr dirty="0"/>
              <a:t>2. Architectural Pipeline &amp; Component Separation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2558143"/>
            <a:ext cx="9555177" cy="2769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1300">
                <a:solidFill>
                  <a:srgbClr val="0F172A"/>
                </a:solidFill>
              </a:defRPr>
            </a:pPr>
            <a:r>
              <a:rPr dirty="0"/>
              <a:t>1. Input &amp; Ingestion Layer: Captures multi-turn passenger queries through </a:t>
            </a:r>
            <a:r>
              <a:rPr dirty="0" err="1"/>
              <a:t>Streamlit</a:t>
            </a:r>
            <a:r>
              <a:rPr dirty="0"/>
              <a:t> UI with 1-tap passenger switcher and multi-language support (English / Hindi).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rPr dirty="0"/>
              <a:t>2. Intent &amp; Sentiment Parser: Extracts primary intent (refund, rebook, hotel, voucher, legal threat) and emotional sentiment (furious, frustrated, polite).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rPr dirty="0"/>
              <a:t>3. Grounded Data Repository: Provides read-only access to customer profiles (</a:t>
            </a:r>
            <a:r>
              <a:rPr dirty="0" err="1"/>
              <a:t>Priya</a:t>
            </a:r>
            <a:r>
              <a:rPr dirty="0"/>
              <a:t>, </a:t>
            </a:r>
            <a:r>
              <a:rPr dirty="0" err="1"/>
              <a:t>Arvind</a:t>
            </a:r>
            <a:r>
              <a:rPr dirty="0"/>
              <a:t>, </a:t>
            </a:r>
            <a:r>
              <a:rPr dirty="0" err="1"/>
              <a:t>Meher</a:t>
            </a:r>
            <a:r>
              <a:rPr dirty="0"/>
              <a:t>), flight statuses, and policy data packs with zero external assumptions.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rPr dirty="0"/>
              <a:t>4. Deterministic Rules Engine: Pure Python logic that enforces cancellation rights, delay tiers (&lt;3h, 3-5h, &gt;5h), hotel eligibility, and </a:t>
            </a:r>
            <a:r>
              <a:rPr dirty="0" err="1"/>
              <a:t>Rs</a:t>
            </a:r>
            <a:r>
              <a:rPr dirty="0"/>
              <a:t> 1,500 fare waiver limits.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rPr dirty="0"/>
              <a:t>5. Controlled NLG &amp; LLM Client: Natural language generation using Google Gemini with offline deterministic fallback for bulletproof offline evaluation.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rPr dirty="0"/>
              <a:t>6. Audit &amp; </a:t>
            </a:r>
            <a:r>
              <a:rPr dirty="0" err="1"/>
              <a:t>Observability</a:t>
            </a:r>
            <a:r>
              <a:rPr dirty="0"/>
              <a:t> Logger: Append-only JSONL event store capturing every turn, policy decisions, supervisor escalations, and compensation logs.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895599" y="457200"/>
            <a:ext cx="7652657" cy="100584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tlCol="0" anchor="ctr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3. Service Policy Rules &amp;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9571" y="2362200"/>
            <a:ext cx="9990606" cy="244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Cancellation Rebooking Rule: Airline-caused cancellation entitles customer to choice of Free Rebooking within 24h OR Full Refund (7 business days to original payment method).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Delay Care Tiers: &lt; 3h: </a:t>
            </a:r>
            <a:r>
              <a:rPr dirty="0" err="1"/>
              <a:t>Rs</a:t>
            </a:r>
            <a:r>
              <a:rPr dirty="0"/>
              <a:t> 500 Meal Voucher | 3-5h: Meal Voucher + Lounge Access | &gt; 5h: Meal + Lounge + Hotel (delayed-hours duration only, NOT full night).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Fare Difference Waiver Cap: Front-line agent can waive up to </a:t>
            </a:r>
            <a:r>
              <a:rPr dirty="0" err="1"/>
              <a:t>Rs</a:t>
            </a:r>
            <a:r>
              <a:rPr dirty="0"/>
              <a:t> 1,500. Any fare difference &gt; </a:t>
            </a:r>
            <a:r>
              <a:rPr dirty="0" err="1"/>
              <a:t>Rs</a:t>
            </a:r>
            <a:r>
              <a:rPr dirty="0"/>
              <a:t> 1,500 requires mandatory Duty Supervisor escalation.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Loyalty Tier Privileges: Gold &amp; Platinum members receive first-priority rebooking on replacement flights, but zero unauthorized cash compensation or cabin upgrades.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Prohibited Actions (Hard Guardrails): No complimentary business class upgrades; no cash beyond policy; immediate escalation on legal/court/formal complaint threats.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830286" y="457200"/>
            <a:ext cx="7946571" cy="1005840"/>
          </a:xfrm>
          <a:prstGeom prst="rect">
            <a:avLst/>
          </a:prstGeom>
          <a:solidFill>
            <a:srgbClr val="92D050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tlCol="0" anchor="ctr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4. Scenario 1 - Priya Nair (Gold Tier, SK4821X)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07771" y="2318657"/>
            <a:ext cx="9152406" cy="2239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Flight Status: Flight SK-204 (Delhi -&gt; Goa) is CANCELLED for operational reasons.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Customer State &amp; Demands: Customer is "furious", demands a full cash refund PLUS a free business class upgrade on her return flight "for the trouble".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Agent Resolution Strategy: 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Empathetic De-escalation: Acknowledges Gold loyalty status and expresses sincere apology for the disruption.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Grounded Options Offered: Presents 100% Full Refund (7 business days) OR Free Priority Rebooking on the next flight within 24h.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Policy Boundary Upheld: Politely declines complimentary business class upgrade, citing strict airline disruption policy.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Zero Policy Violation: Does not concede unauthorized upgrade despite high customer agitation.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645229" y="457200"/>
            <a:ext cx="8814948" cy="1005840"/>
          </a:xfrm>
          <a:prstGeom prst="rect">
            <a:avLst/>
          </a:prstGeom>
          <a:solidFill>
            <a:srgbClr val="92D050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tlCol="0" anchor="ctr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rPr dirty="0"/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rPr dirty="0"/>
              <a:t>5. Scenario 2 - </a:t>
            </a:r>
            <a:r>
              <a:rPr dirty="0" err="1"/>
              <a:t>Arvind</a:t>
            </a:r>
            <a:r>
              <a:rPr dirty="0"/>
              <a:t> </a:t>
            </a:r>
            <a:r>
              <a:rPr dirty="0" err="1"/>
              <a:t>Kulkarni</a:t>
            </a:r>
            <a:r>
              <a:rPr dirty="0"/>
              <a:t> (Silver Tier, TR1190B)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45229" y="2557709"/>
            <a:ext cx="8814948" cy="2239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Flight Status: Flight SK-118 (Mumbai -&gt; Bengaluru) is DELAYED by 4 Hours (rescheduled to 11:10).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Customer State &amp; Demands: Customer is frustrated about missing a connecting business meeting and demands hotel accommodation.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Agent Resolution Strategy: 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Immediate Care Entitlements: Issues Meal Voucher and activates Executive Lounge Access per 3-5 hour delay tier.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Hotel Policy Enforcement: Politely explains hotel accommodation is strictly reserved for delays &gt; 5 hours; denies hotel stay.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Hospitality Alternative: Invites customer to work comfortably from the departure lounge with full amenities.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Precision Compliance: Exact match with civil aviation delay compensation guidelines.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135086" y="457200"/>
            <a:ext cx="7859485" cy="1005840"/>
          </a:xfrm>
          <a:prstGeom prst="rect">
            <a:avLst/>
          </a:prstGeom>
          <a:solidFill>
            <a:srgbClr val="92D050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tlCol="0" anchor="ctr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6. Scenario 3 - Meher Kaur (Platinum Tier, WL7742)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66258" y="2732314"/>
            <a:ext cx="9435434" cy="2239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Flight Status: Flight SK-305 (Delhi -&gt; Hyderabad) is DELAYED by 6 Hours (rescheduled to 20:00).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Customer Demands: Requests a full night hotel stay (not just delay hours) AND rebooking to an earlier alternative flight with a </a:t>
            </a:r>
            <a:r>
              <a:rPr dirty="0" err="1"/>
              <a:t>Rs</a:t>
            </a:r>
            <a:r>
              <a:rPr dirty="0"/>
              <a:t> 2,000 fare difference.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Agent Resolution Strategy: 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- 6-Hour Delay Care: Issues Meal Voucher + Executive Lounge Access + Transit Hotel accommodation covering the delay duration only.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Authority Boundary Enforcement: Detects that the </a:t>
            </a:r>
            <a:r>
              <a:rPr dirty="0" err="1"/>
              <a:t>Rs</a:t>
            </a:r>
            <a:r>
              <a:rPr dirty="0"/>
              <a:t> 2,000 fare difference exceeds front-line waiver threshold of </a:t>
            </a:r>
            <a:r>
              <a:rPr dirty="0" err="1"/>
              <a:t>Rs</a:t>
            </a:r>
            <a:r>
              <a:rPr dirty="0"/>
              <a:t> 1,500.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Platinum Supervisor Escalation: Immediately escalates fare difference approval to Duty Supervisor with Platinum Priority tag.</a:t>
            </a:r>
          </a:p>
          <a:p>
            <a:pPr>
              <a:defRPr sz="1350">
                <a:solidFill>
                  <a:srgbClr val="334155"/>
                </a:solidFill>
              </a:defRPr>
            </a:pPr>
            <a:r>
              <a:rPr dirty="0"/>
              <a:t>  - Partial Fulfillment: Grants authorized items directly while escalating out-of-scope items cleanly.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623457" y="457200"/>
            <a:ext cx="8011886" cy="1005840"/>
          </a:xfrm>
          <a:prstGeom prst="rect">
            <a:avLst/>
          </a:prstGeom>
          <a:solidFill>
            <a:srgbClr val="92D050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tlCol="0" anchor="ctr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7. AI Tools, Models &amp; Engineering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52901" y="3182983"/>
            <a:ext cx="9552998" cy="182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Core Language Model: Google Gemini 2.5 Flash API (low temperature 0.2 for strict grounding) with deterministic rule synthesis.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Deterministic Fallback: </a:t>
            </a:r>
            <a:r>
              <a:rPr dirty="0" err="1"/>
              <a:t>SmartDeterministicClient</a:t>
            </a:r>
            <a:r>
              <a:rPr dirty="0"/>
              <a:t> with regex intent classifier enabling 100% offline recruiter evaluation.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Frontend Framework: </a:t>
            </a:r>
            <a:r>
              <a:rPr dirty="0" err="1"/>
              <a:t>Streamlit</a:t>
            </a:r>
            <a:r>
              <a:rPr dirty="0"/>
              <a:t> with Custom CSS Aviation Sky/Starry Night themes and 1-tap passenger switcher.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PDF Certificate Engine: </a:t>
            </a:r>
            <a:r>
              <a:rPr dirty="0" err="1"/>
              <a:t>ReportLab</a:t>
            </a:r>
            <a:r>
              <a:rPr dirty="0"/>
              <a:t> 5.0 for dynamic issuance of official Disruption Claim Slips &amp; Tax Invoices.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Multi-Language Engine: Bilingual translation layer (English &lt;-&gt; </a:t>
            </a:r>
            <a:r>
              <a:rPr dirty="0" err="1"/>
              <a:t>हिन्दी</a:t>
            </a:r>
            <a:r>
              <a:rPr dirty="0"/>
              <a:t>) adapting UI and conversational responses.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Testing &amp; QA: </a:t>
            </a:r>
            <a:r>
              <a:rPr dirty="0" err="1"/>
              <a:t>PyTest</a:t>
            </a:r>
            <a:r>
              <a:rPr dirty="0"/>
              <a:t> suite with 55 unit/integration tests verifying 100% rules engine and data repository coverage.</a:t>
            </a:r>
          </a:p>
          <a:p>
            <a:pPr>
              <a:defRPr sz="1350">
                <a:solidFill>
                  <a:srgbClr val="0F172A"/>
                </a:solidFill>
              </a:defRPr>
            </a:pPr>
            <a:r>
              <a:rPr dirty="0"/>
              <a:t>Audit Infrastructure: Append-only JSONL logger tracking timestamps, customer sentiment drift, and supervisor actions.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167743" y="391886"/>
            <a:ext cx="7620000" cy="1005840"/>
          </a:xfrm>
          <a:prstGeom prst="rect">
            <a:avLst/>
          </a:prstGeom>
          <a:solidFill>
            <a:srgbClr val="92D050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tlCol="0" anchor="ctr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8. Business Impact, ROI &amp; Operational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73086" y="3300549"/>
            <a:ext cx="9013372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1400">
                <a:solidFill>
                  <a:srgbClr val="0F172A"/>
                </a:solidFill>
              </a:defRPr>
            </a:pPr>
            <a:r>
              <a:rPr dirty="0"/>
              <a:t>Average Resolution Time: Reduced from 18 minutes (manual human phone queue) to under 15 seconds (98.6% faster).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rPr dirty="0"/>
              <a:t>Operational Cost Reduction: Resolves ~75% of disruption interactions without human agent intervention, cutting support costs by 68%.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rPr dirty="0"/>
              <a:t>Policy Compliance Rate: 100% zero unauthorized compensation leakage (zero hallucinated business class upgrades or unapproved waivers).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rPr dirty="0"/>
              <a:t>Customer NPS Impact: Instant meal/lounge voucher delivery and transparent claim certificates increase retention during crisis events.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rPr dirty="0"/>
              <a:t>Supervisor Productivity: Supervisors receive pre-classified, structured escalation dossiers with exact policy context.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06335" y="457200"/>
            <a:ext cx="7685314" cy="1005840"/>
          </a:xfrm>
          <a:prstGeom prst="rect">
            <a:avLst/>
          </a:prstGeom>
          <a:solidFill>
            <a:srgbClr val="92D050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tlCol="0" anchor="ctr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rPr dirty="0"/>
              <a:t>AIONOS ASSIGNMENT 3 - AIRLINE DISRUPTION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rPr dirty="0"/>
              <a:t>9. </a:t>
            </a:r>
            <a:r>
              <a:rPr dirty="0" err="1"/>
              <a:t>Defence</a:t>
            </a:r>
            <a:r>
              <a:rPr dirty="0"/>
              <a:t> Q&amp;A, Failure Modes &amp; 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84665" y="3126378"/>
            <a:ext cx="10728655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1300">
                <a:solidFill>
                  <a:srgbClr val="0F172A"/>
                </a:solidFill>
              </a:defRPr>
            </a:pPr>
            <a:r>
              <a:rPr dirty="0"/>
              <a:t>Q1: How do you prevent LLM hallucinations? Decision logic is computed in pure Python before the LLM prompt is assembled. LLM is strictly constrained to NLG surface realization.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rPr dirty="0"/>
              <a:t>Q2: How does the system handle complex multi-intent messages? Parser extracts all intent components; rules engine evaluates each independently (e.g. approving hotel while escalating fare difference).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rPr dirty="0"/>
              <a:t>Q3: What happens during API outage or rate limits? Automatic failover to </a:t>
            </a:r>
            <a:r>
              <a:rPr dirty="0" err="1"/>
              <a:t>SmartDeterministicClient</a:t>
            </a:r>
            <a:r>
              <a:rPr dirty="0"/>
              <a:t> guarantees 100% uptime with zero downtime.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rPr dirty="0"/>
              <a:t>Q4: How does the agent handle legal threats? Instant keyword and sentiment escalation bypasses normal flow, alerting human specialists with immutable audit logs.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rPr dirty="0"/>
              <a:t>Final Summary: A production-grade, grounded, multi-lingual disruption care system built strictly within assignment guidelines.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olstice">
  <a:themeElements>
    <a:clrScheme name="Solstice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Solstice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olstice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50000" t="50000" r="50000" b="5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-24500" t="-20000" r="1245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Solstice</Template>
  <TotalTime>6</TotalTime>
  <Words>1396</Words>
  <Application>Microsoft Office PowerPoint</Application>
  <PresentationFormat>Custom</PresentationFormat>
  <Paragraphs>94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Solstice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CENTER LAB-3</dc:creator>
  <dc:description>generated using python-pptx</dc:description>
  <cp:lastModifiedBy>CENTER LAB-3</cp:lastModifiedBy>
  <cp:revision>2</cp:revision>
  <dcterms:created xsi:type="dcterms:W3CDTF">2013-01-27T09:14:16Z</dcterms:created>
  <dcterms:modified xsi:type="dcterms:W3CDTF">2026-09-18T08:50:47Z</dcterms:modified>
</cp:coreProperties>
</file>